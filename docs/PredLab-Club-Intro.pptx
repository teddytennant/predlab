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-1097280"/>
            <a:ext cx="5486400" cy="9144000"/>
          </a:xfrm>
          <a:prstGeom prst="rect">
            <a:avLst/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-1097280"/>
            <a:ext cx="38100" cy="91440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66760" y="15544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7007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A6C0"/>
                </a:solidFill>
                <a:latin typeface="Arial"/>
              </a:rPr>
              <a:t>WILL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9751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5D07F"/>
                </a:solidFill>
                <a:latin typeface="Arial"/>
              </a:rPr>
              <a:t>73¢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81360" y="1700784"/>
            <a:ext cx="640080" cy="758952"/>
          </a:xfrm>
          <a:prstGeom prst="roundRect">
            <a:avLst>
              <a:gd name="adj" fmla="val 6000"/>
            </a:avLst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29260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30723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A6C0"/>
                </a:solidFill>
                <a:latin typeface="Arial"/>
              </a:rPr>
              <a:t>MAYBE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3467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C142"/>
                </a:solidFill>
                <a:latin typeface="Arial"/>
              </a:rPr>
              <a:t>48¢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81360" y="3072384"/>
            <a:ext cx="640080" cy="758952"/>
          </a:xfrm>
          <a:prstGeom prst="roundRect">
            <a:avLst>
              <a:gd name="adj" fmla="val 6000"/>
            </a:avLst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42976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44398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A6C0"/>
                </a:solidFill>
                <a:latin typeface="Arial"/>
              </a:rPr>
              <a:t>WON'T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71830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C7A"/>
                </a:solidFill>
                <a:latin typeface="Arial"/>
              </a:rPr>
              <a:t>21¢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81360" y="4443984"/>
            <a:ext cx="640080" cy="758952"/>
          </a:xfrm>
          <a:prstGeom prst="roundRect">
            <a:avLst>
              <a:gd name="adj" fmla="val 6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5D07F"/>
                </a:solidFill>
                <a:latin typeface="Arial"/>
              </a:rPr>
              <a:t>NCSSM  ·  PREDICTION MARKETS CLUB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4884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2F5FB"/>
                </a:solidFill>
                <a:latin typeface="Arial"/>
              </a:rPr>
              <a:t>Intelligence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2F5FB"/>
                </a:solidFill>
                <a:latin typeface="Arial"/>
              </a:rPr>
              <a:t>is </a:t>
            </a:r>
            <a:r>
              <a:rPr sz="5800" b="1" i="0">
                <a:solidFill>
                  <a:srgbClr val="35D07F"/>
                </a:solidFill>
                <a:latin typeface="Arial"/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9AA6C0"/>
                </a:solidFill>
                <a:latin typeface="Arial"/>
              </a:rPr>
              <a:t>Build the best forecaster on paper-trading Polymarket —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9AA6C0"/>
                </a:solidFill>
                <a:latin typeface="Arial"/>
              </a:rPr>
              <a:t>AI agents + statistical models, zero financial risk.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40680"/>
            <a:ext cx="2743200" cy="381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Powered by </a:t>
            </a:r>
            <a:r>
              <a:rPr sz="1300" b="1" i="0">
                <a:solidFill>
                  <a:srgbClr val="F2F5FB"/>
                </a:solidFill>
                <a:latin typeface="Arial"/>
              </a:rPr>
              <a:t>PredLab</a:t>
            </a:r>
            <a:r>
              <a:rPr sz="1300" b="0" i="0">
                <a:solidFill>
                  <a:srgbClr val="9AA6C0"/>
                </a:solidFill>
                <a:latin typeface="Arial"/>
              </a:rPr>
              <a:t>  ·  paper money only  ·  not affiliated with Polymarket / Kalshi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07F"/>
                </a:solidFill>
                <a:latin typeface="Arial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Intelligence, in its simplest form, is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2F5FB"/>
                </a:solidFill>
                <a:latin typeface="Arial"/>
              </a:rPr>
              <a:t>A mind earns its keep by </a:t>
            </a:r>
            <a:r>
              <a:rPr sz="1800" b="1" i="0">
                <a:solidFill>
                  <a:srgbClr val="35D07F"/>
                </a:solidFill>
                <a:latin typeface="Arial"/>
              </a:rPr>
              <a:t>anticipating what happens next</a:t>
            </a:r>
            <a:r>
              <a:rPr sz="1800" b="0" i="0">
                <a:solidFill>
                  <a:srgbClr val="F2F5FB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1400"/>
              </a:spcBef>
            </a:pPr>
            <a:r>
              <a:rPr sz="1600" b="0" i="0">
                <a:solidFill>
                  <a:srgbClr val="9AA6C0"/>
                </a:solidFill>
                <a:latin typeface="Arial"/>
              </a:rPr>
              <a:t>The brain is a prediction engine: it forecasts its own sensory stream and learns only from the </a:t>
            </a:r>
            <a:r>
              <a:rPr sz="1600" b="1" i="0">
                <a:solidFill>
                  <a:srgbClr val="F2F5FB"/>
                </a:solidFill>
                <a:latin typeface="Arial"/>
              </a:rPr>
              <a:t>errors</a:t>
            </a:r>
            <a:r>
              <a:rPr sz="1600" b="0" i="0">
                <a:solidFill>
                  <a:srgbClr val="9AA6C0"/>
                </a:solidFill>
                <a:latin typeface="Arial"/>
              </a:rPr>
              <a:t>. Perception, planning, even language are downstream of “guess, then correct.”</a:t>
            </a:r>
          </a:p>
          <a:p>
            <a:pPr algn="l">
              <a:lnSpc>
                <a:spcPct val="118000"/>
              </a:lnSpc>
              <a:spcBef>
                <a:spcPts val="1400"/>
              </a:spcBef>
            </a:pPr>
            <a:r>
              <a:rPr sz="1600" b="1" i="0">
                <a:solidFill>
                  <a:srgbClr val="F2F5FB"/>
                </a:solidFill>
                <a:latin typeface="Arial"/>
              </a:rPr>
              <a:t>Compression is prediction. </a:t>
            </a:r>
            <a:r>
              <a:rPr sz="1600" b="0" i="0">
                <a:solidFill>
                  <a:srgbClr val="9AA6C0"/>
                </a:solidFill>
                <a:latin typeface="Arial"/>
              </a:rPr>
              <a:t>A model that predicts a sequence well can compress it — and scaled next-token prediction produced systems that reason, code, and model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783080"/>
            <a:ext cx="4114800" cy="393192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0" y="20116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7F"/>
                </a:solidFill>
                <a:latin typeface="Arial"/>
              </a:rPr>
              <a:t>THE CORE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5146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258775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0F1A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9631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5FB"/>
                </a:solidFill>
                <a:latin typeface="Arial"/>
              </a:rPr>
              <a:t>Predict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6C0"/>
                </a:solidFill>
                <a:latin typeface="Arial"/>
              </a:rPr>
              <a:t>forecast the next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9008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A6C0"/>
                </a:solidFill>
                <a:latin typeface="Arial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80" y="3300984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33741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0F1A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8269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5FB"/>
                </a:solidFill>
                <a:latin typeface="Arial"/>
              </a:rPr>
              <a:t>Observe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6C0"/>
                </a:solidFill>
                <a:latin typeface="Arial"/>
              </a:rPr>
              <a:t>reality arrives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7647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A6C0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80" y="4087368"/>
            <a:ext cx="457200" cy="457200"/>
          </a:xfrm>
          <a:prstGeom prst="roundRect">
            <a:avLst>
              <a:gd name="adj" fmla="val 6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41605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0F1A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0690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5FB"/>
                </a:solidFill>
                <a:latin typeface="Arial"/>
              </a:rPr>
              <a:t>Measure error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6C0"/>
                </a:solidFill>
                <a:latin typeface="Arial"/>
              </a:rPr>
              <a:t>how wrong were we?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56285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A6C0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487375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494690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B0F1A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855464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5FB"/>
                </a:solidFill>
                <a:latin typeface="Arial"/>
              </a:rPr>
              <a:t>Update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6C0"/>
                </a:solidFill>
                <a:latin typeface="Arial"/>
              </a:rPr>
              <a:t>improve the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E9BFF"/>
                </a:solidFill>
                <a:latin typeface="Arial"/>
              </a:rPr>
              <a:t>WHY WE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A good predictor is a general instrument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AA6C0"/>
                </a:solidFill>
                <a:latin typeface="Arial"/>
              </a:rPr>
              <a:t>To predict an event well, you are forced to build a model of the world that produced it. That model </a:t>
            </a:r>
            <a:r>
              <a:rPr sz="1600" b="1" i="0">
                <a:solidFill>
                  <a:srgbClr val="F2F5FB"/>
                </a:solidFill>
                <a:latin typeface="Arial"/>
              </a:rPr>
              <a:t>transfers</a:t>
            </a:r>
            <a:r>
              <a:rPr sz="1600" b="0" i="0">
                <a:solidFill>
                  <a:srgbClr val="9AA6C0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63500" cy="169164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Forces real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27832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You can't forecast an election, a Fed decision, or a playoff without modeling the causes underneath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1460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514600"/>
            <a:ext cx="63500" cy="169164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Emergent properties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27832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Train something only to predict — and reasoning, abstraction, and world-models fall out as side effects.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63500" cy="1691640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Brutally honest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39512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Markets resolve. You were right or wrong, and the P&amp;L is the grade. No hand-waving.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2628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526280"/>
            <a:ext cx="63500" cy="169164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75488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Skills that carry 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39512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Calibration, Bayesian updating, and modeling uncertainty are the same muscles everywhere.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07F"/>
                </a:solidFill>
                <a:latin typeface="Arial"/>
              </a:rPr>
              <a:t>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What is a prediction market?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492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9AA6C0"/>
                </a:solidFill>
                <a:latin typeface="Arial"/>
              </a:rPr>
              <a:t>A market where you trade contracts on whether an event happens. Each share pays </a:t>
            </a:r>
            <a:r>
              <a:rPr sz="1600" b="1" i="0">
                <a:solidFill>
                  <a:srgbClr val="35D07F"/>
                </a:solidFill>
                <a:latin typeface="Arial"/>
              </a:rPr>
              <a:t>$1 if YES</a:t>
            </a:r>
            <a:r>
              <a:rPr sz="1600" b="0" i="0">
                <a:solidFill>
                  <a:srgbClr val="9AA6C0"/>
                </a:solidFill>
                <a:latin typeface="Arial"/>
              </a:rPr>
              <a:t>, </a:t>
            </a:r>
            <a:r>
              <a:rPr sz="1600" b="1" i="0">
                <a:solidFill>
                  <a:srgbClr val="FF5C7A"/>
                </a:solidFill>
                <a:latin typeface="Arial"/>
              </a:rPr>
              <a:t>$0 if NO</a:t>
            </a:r>
            <a:r>
              <a:rPr sz="1600" b="0" i="0">
                <a:solidFill>
                  <a:srgbClr val="9AA6C0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7860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6108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Price = probability.  </a:t>
            </a:r>
            <a:r>
              <a:rPr sz="1500" b="0" i="0">
                <a:solidFill>
                  <a:srgbClr val="9AA6C0"/>
                </a:solidFill>
                <a:latin typeface="Arial"/>
              </a:rPr>
              <a:t>A share at 63¢ means “the market thinks ~63% likely.”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27832"/>
            <a:ext cx="6108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You profit by being calibrated.  </a:t>
            </a:r>
            <a:r>
              <a:rPr sz="1500" b="0" i="0">
                <a:solidFill>
                  <a:srgbClr val="9AA6C0"/>
                </a:solidFill>
                <a:latin typeface="Arial"/>
              </a:rPr>
              <a:t>Buy when you think the true odds beat the price.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05072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941064"/>
            <a:ext cx="6108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It resolves.  </a:t>
            </a:r>
            <a:r>
              <a:rPr sz="1500" b="0" i="0">
                <a:solidFill>
                  <a:srgbClr val="9AA6C0"/>
                </a:solidFill>
                <a:latin typeface="Arial"/>
              </a:rPr>
              <a:t>The event happens or it doesn't — instant scoring.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18304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654296"/>
            <a:ext cx="61081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Wisdom of crowds.  </a:t>
            </a:r>
            <a:r>
              <a:rPr sz="1500" b="0" i="0">
                <a:solidFill>
                  <a:srgbClr val="9AA6C0"/>
                </a:solidFill>
                <a:latin typeface="Arial"/>
              </a:rPr>
              <a:t>Aggregated money is a famously hard forecast to beat.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737360"/>
            <a:ext cx="4206240" cy="402336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9385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“Fed cuts rates in July?”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3317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A6C0"/>
                </a:solidFill>
                <a:latin typeface="Arial"/>
              </a:rPr>
              <a:t>RESOLVES JUL 30  ·  $1 if 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788920"/>
            <a:ext cx="1783080" cy="109728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926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07F"/>
                </a:solidFill>
                <a:latin typeface="Arial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0040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35D07F"/>
                </a:solidFill>
                <a:latin typeface="Arial"/>
              </a:rPr>
              <a:t>64¢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78892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926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5C7A"/>
                </a:solidFill>
                <a:latin typeface="Arial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20040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5C7A"/>
                </a:solidFill>
                <a:latin typeface="Arial"/>
              </a:rPr>
              <a:t>36¢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0690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A6C0"/>
                </a:solidFill>
                <a:latin typeface="Arial"/>
              </a:rPr>
              <a:t>IMPLIED PROBABILITY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4370832"/>
            <a:ext cx="3566160" cy="292608"/>
          </a:xfrm>
          <a:prstGeom prst="rect">
            <a:avLst/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4370832"/>
            <a:ext cx="2282342" cy="29260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80060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9AA6C0"/>
                </a:solidFill>
                <a:latin typeface="Arial"/>
              </a:rPr>
              <a:t>Edge = your model's probability − the market price. Trade the gap.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5D07F"/>
                </a:solidFill>
                <a:latin typeface="Arial"/>
              </a:rPr>
              <a:t>THE CLUB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2F5FB"/>
                </a:solidFill>
                <a:latin typeface="Arial"/>
              </a:rPr>
              <a:t>Build the best predictor we can —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2F5FB"/>
                </a:solidFill>
                <a:latin typeface="Arial"/>
              </a:rPr>
              <a:t>on paper-traded Polymarket, scored by P&amp;L.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AA6C0"/>
                </a:solidFill>
                <a:latin typeface="Arial"/>
              </a:rPr>
              <a:t>We wire the </a:t>
            </a:r>
            <a:r>
              <a:rPr sz="1800" b="1" i="0">
                <a:solidFill>
                  <a:srgbClr val="4E9BFF"/>
                </a:solidFill>
                <a:latin typeface="Arial"/>
              </a:rPr>
              <a:t>Polymarket API</a:t>
            </a:r>
            <a:r>
              <a:rPr sz="1800" b="0" i="0">
                <a:solidFill>
                  <a:srgbClr val="9AA6C0"/>
                </a:solidFill>
                <a:latin typeface="Arial"/>
              </a:rPr>
              <a:t> to </a:t>
            </a:r>
            <a:r>
              <a:rPr sz="1800" b="1" i="0">
                <a:solidFill>
                  <a:srgbClr val="35D07F"/>
                </a:solidFill>
                <a:latin typeface="Arial"/>
              </a:rPr>
              <a:t>AI agents</a:t>
            </a:r>
            <a:r>
              <a:rPr sz="1800" b="0" i="0">
                <a:solidFill>
                  <a:srgbClr val="9AA6C0"/>
                </a:solidFill>
                <a:latin typeface="Arial"/>
              </a:rPr>
              <a:t> and </a:t>
            </a:r>
            <a:r>
              <a:rPr sz="1800" b="1" i="0">
                <a:solidFill>
                  <a:srgbClr val="F5C142"/>
                </a:solidFill>
                <a:latin typeface="Arial"/>
              </a:rPr>
              <a:t>statistical models</a:t>
            </a:r>
            <a:r>
              <a:rPr sz="1800" b="0" i="0">
                <a:solidFill>
                  <a:srgbClr val="9AA6C0"/>
                </a:solidFill>
                <a:latin typeface="Arial"/>
              </a:rPr>
              <a:t>, let them forecast and trade with paper money, and rank everyone on a live leaderboard.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349240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5D07F"/>
                </a:solidFill>
                <a:latin typeface="Arial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504688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real money at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21208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5349240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5D07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504688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shared leaderboard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21208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5349240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5D07F"/>
                </a:solidFill>
                <a:latin typeface="Arial"/>
              </a:rP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5504688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strategies to 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E9BFF"/>
                </a:solidFill>
                <a:latin typeface="Arial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PredLab — our paper-trading sandbox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9AA6C0"/>
                </a:solidFill>
                <a:latin typeface="Arial"/>
              </a:rPr>
              <a:t>Drop-in mocks of the real Polymarket &amp; Kalshi APIs. They </a:t>
            </a:r>
            <a:r>
              <a:rPr sz="1500" b="1" i="0">
                <a:solidFill>
                  <a:srgbClr val="F2F5FB"/>
                </a:solidFill>
                <a:latin typeface="Arial"/>
              </a:rPr>
              <a:t>sync live prices</a:t>
            </a:r>
            <a:r>
              <a:rPr sz="1500" b="0" i="0">
                <a:solidFill>
                  <a:srgbClr val="9AA6C0"/>
                </a:solidFill>
                <a:latin typeface="Arial"/>
              </a:rPr>
              <a:t> from the public feeds, so the official SDKs work unchanged — you just point them at localhost.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383280" cy="6350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polymarket-sim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724912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77063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E9BFF"/>
                </a:solidFill>
                <a:latin typeface="Arial"/>
              </a:rPr>
              <a:t>:8001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Gamma + CLOB API mock
Python / 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468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468880"/>
            <a:ext cx="3383280" cy="635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kalshi-sim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724912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7063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35D07F"/>
                </a:solidFill>
                <a:latin typeface="Arial"/>
              </a:rPr>
              <a:t>:8002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918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Kalshi Trade API v2 mock
Python / FastAPI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24688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2468880"/>
            <a:ext cx="3383280" cy="635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ratatui-admin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2724912"/>
            <a:ext cx="777240" cy="384048"/>
          </a:xfrm>
          <a:prstGeom prst="roundRect">
            <a:avLst>
              <a:gd name="adj" fmla="val 6000"/>
            </a:avLst>
          </a:prstGeom>
          <a:solidFill>
            <a:srgbClr val="1E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77063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5C142"/>
                </a:solidFill>
                <a:latin typeface="Arial"/>
              </a:rPr>
              <a:t>predlab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9184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Rust TUI: mint paper keys
+ club roster &amp; leaderboard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7F"/>
                </a:solidFill>
                <a:latin typeface="Arial"/>
              </a:rPr>
              <a:t>HOW YOU CONNECT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38928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E9BFF"/>
                </a:solidFill>
                <a:latin typeface="Arial"/>
              </a:rPr>
              <a:t>from py_clob_client.client import ClobClient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client = ClobClient(host="http://localhost:8001", key=YOUR_PAPER_KEY)   # same SDK, paper 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07F"/>
                </a:solidFill>
                <a:latin typeface="Arial"/>
              </a:rPr>
              <a:t>HOW WE'LL COMPETE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Two ways to build an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41148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257800" cy="635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C142"/>
                </a:solidFill>
                <a:latin typeface="Arial"/>
              </a:rPr>
              <a:t>Statistical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A6C0"/>
                </a:solidFill>
                <a:latin typeface="Arial"/>
              </a:rPr>
              <a:t>Quantify the edge.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90088"/>
            <a:ext cx="109728" cy="109728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92608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Bayesian updating &amp; calibration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538728"/>
            <a:ext cx="109728" cy="109728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347472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Polling / sports / econ base rates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87368"/>
            <a:ext cx="109728" cy="109728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402336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Time-series &amp; regression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636008"/>
            <a:ext cx="109728" cy="109728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57200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Arbitrage and price-vs-fair-value gaps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184648"/>
            <a:ext cx="109728" cy="109728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512064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Backtest against historical resolutions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257800" cy="411480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737360"/>
            <a:ext cx="5257800" cy="635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965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5D07F"/>
                </a:solidFill>
                <a:latin typeface="Arial"/>
              </a:rPr>
              <a:t>AI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AA6C0"/>
                </a:solidFill>
                <a:latin typeface="Arial"/>
              </a:rPr>
              <a:t>Research, reason, and 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299008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8" y="292608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Pull news &amp; search for catalysts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353872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8" y="347472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Reason over evidence into a probability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08736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22008" y="402336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Call the PredLab API to place trades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63600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2008" y="457200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Run continuously, react to new markets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518464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2008" y="5120640"/>
            <a:ext cx="4279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F2F5FB"/>
                </a:solidFill>
                <a:latin typeface="Arial"/>
              </a:rPr>
              <a:t>Log every decision for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F2F5FB"/>
                </a:solidFill>
                <a:latin typeface="Arial"/>
              </a:rPr>
              <a:t>The strongest entries will fuse both: an agent that does the research, a model that sizes the bet.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07F"/>
                </a:solidFill>
                <a:latin typeface="Arial"/>
              </a:rPr>
              <a:t>FEATURED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Wizard — a sovereign agent you can point at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2F5FB"/>
                </a:solidFill>
                <a:latin typeface="Arial"/>
              </a:rPr>
              <a:t>Wizard</a:t>
            </a:r>
            <a:r>
              <a:rPr sz="1500" b="0" i="0">
                <a:solidFill>
                  <a:srgbClr val="9AA6C0"/>
                </a:solidFill>
                <a:latin typeface="Arial"/>
              </a:rPr>
              <a:t> is an open-source, self-extending terminal agent (Rust + Ratatui). Bring any model, give it tools, and it researches, decides, and acts — a natural body for a trading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50800" cy="146304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Bring any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AA6C0"/>
                </a:solidFill>
                <a:latin typeface="Arial"/>
              </a:rPr>
              <a:t>OpenAI, Anthropic, xAI, OpenRouter, or local llama.cpp — switch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69748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697480"/>
            <a:ext cx="50800" cy="146304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89864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Tools +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355848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AA6C0"/>
                </a:solidFill>
                <a:latin typeface="Arial"/>
              </a:rPr>
              <a:t>Wire in the PredLab API, a browser, news, or a database as MCP servers.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69748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697480"/>
            <a:ext cx="50800" cy="146304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/evolve self-extension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355848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AA6C0"/>
                </a:solidFill>
                <a:latin typeface="Arial"/>
              </a:rPr>
              <a:t>Writes its own new skills &amp; tools at runtime — even rebuilds itself.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89120"/>
            <a:ext cx="50800" cy="1463040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9028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Continuous sovereign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47488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AA6C0"/>
                </a:solidFill>
                <a:latin typeface="Arial"/>
              </a:rPr>
              <a:t>Runs unattended on a goal: watch markets, forecast, trade, repeat.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438912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4389120"/>
            <a:ext cx="50800" cy="146304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459028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wizard 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5047488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AA6C0"/>
                </a:solidFill>
                <a:latin typeface="Arial"/>
              </a:rPr>
              <a:t>Replays past runs to measure if a change actually made it better.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389120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4389120"/>
            <a:ext cx="50800" cy="146304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4590288"/>
            <a:ext cx="3044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Single safe binary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5047488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AA6C0"/>
                </a:solidFill>
                <a:latin typeface="Arial"/>
              </a:rPr>
              <a:t>Memory-safe Rust, keys from env, approval-gated actions.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6C0"/>
                </a:solidFill>
                <a:latin typeface="Arial"/>
              </a:rPr>
              <a:t>github.com/teddytennant/wizard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E9BFF"/>
                </a:solidFill>
                <a:latin typeface="Arial"/>
              </a:rPr>
              <a:t>GOING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Don't just tune the model — evolve the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2F5FB"/>
                </a:solidFill>
                <a:latin typeface="Arial"/>
              </a:rPr>
              <a:t>Agentic Harness Engineering</a:t>
            </a:r>
            <a:r>
              <a:rPr sz="1500" b="0" i="0">
                <a:solidFill>
                  <a:srgbClr val="9AA6C0"/>
                </a:solidFill>
                <a:latin typeface="Arial"/>
              </a:rPr>
              <a:t> makes a key bet: </a:t>
            </a:r>
            <a:r>
              <a:rPr sz="1500" b="1" i="0">
                <a:solidFill>
                  <a:srgbClr val="4E9BFF"/>
                </a:solidFill>
                <a:latin typeface="Arial"/>
              </a:rPr>
              <a:t>hold the model fixed and improve everything around it</a:t>
            </a:r>
            <a:r>
              <a:rPr sz="1500" b="0" i="0">
                <a:solidFill>
                  <a:srgbClr val="9AA6C0"/>
                </a:solidFill>
                <a:latin typeface="Arial"/>
              </a:rPr>
              <a:t> — prompts, tools, skills, memory — using evidence from real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E9B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587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Run the agent on real tasks; keep full traces, not just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2461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9AA6C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5C142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8587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Compress traces into root-cause reports — why did it fail?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2461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9AA6C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43200"/>
            <a:ext cx="3383280" cy="169164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92608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5D07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520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8587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A6C0"/>
                </a:solidFill>
                <a:latin typeface="Arial"/>
              </a:rPr>
              <a:t>A meta-agent proposes evidence-backed edits, tested next round.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 w="15875">
            <a:solidFill>
              <a:srgbClr val="35D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7F"/>
                </a:solidFill>
                <a:latin typeface="Arial"/>
              </a:rPr>
              <a:t>WHY IT MATTERS FOR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AA6C0"/>
                </a:solidFill>
                <a:latin typeface="Arial"/>
              </a:rPr>
              <a:t>Same idea as the markets: </a:t>
            </a:r>
            <a:r>
              <a:rPr sz="1500" b="1" i="0">
                <a:solidFill>
                  <a:srgbClr val="F2F5FB"/>
                </a:solidFill>
                <a:latin typeface="Arial"/>
              </a:rPr>
              <a:t>predict → measure error → update.</a:t>
            </a:r>
            <a:r>
              <a:rPr sz="1500" b="0" i="0">
                <a:solidFill>
                  <a:srgbClr val="9AA6C0"/>
                </a:solidFill>
                <a:latin typeface="Arial"/>
              </a:rPr>
              <a:t>  We already run Wizard through this harness (the wizard-xai experiments) — the trading agent we build can be evolved the same way.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4476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AA6C0"/>
                </a:solidFill>
                <a:latin typeface="Arial"/>
              </a:rPr>
              <a:t>github.com/china-qijizhifeng/agentic-harness-engineering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07F"/>
                </a:solidFill>
                <a:latin typeface="Arial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F5FB"/>
                </a:solidFill>
                <a:latin typeface="Arial"/>
              </a:rPr>
              <a:t>How the season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822960" cy="508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64592" cy="960120"/>
          </a:xfrm>
          <a:prstGeom prst="rect">
            <a:avLst/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029968"/>
            <a:ext cx="566928" cy="566928"/>
          </a:xfrm>
          <a:prstGeom prst="roundRect">
            <a:avLst>
              <a:gd name="adj" fmla="val 6000"/>
            </a:avLst>
          </a:prstGeom>
          <a:solidFill>
            <a:srgbClr val="4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2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B0F1A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75104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F5FB"/>
                </a:solidFill>
                <a:latin typeface="Arial"/>
              </a:rPr>
              <a:t>Onboard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75104"/>
            <a:ext cx="7132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6C0"/>
                </a:solidFill>
                <a:latin typeface="Arial"/>
              </a:rPr>
              <a:t>Get your paper keys. Connect the SDK to PredLab. Place your first manual trade.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4436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44368"/>
            <a:ext cx="164592" cy="96012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3145536"/>
            <a:ext cx="566928" cy="566928"/>
          </a:xfrm>
          <a:prstGeom prst="roundRect">
            <a:avLst>
              <a:gd name="adj" fmla="val 6000"/>
            </a:avLst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B0F1A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090672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F5FB"/>
                </a:solidFill>
                <a:latin typeface="Arial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90672"/>
            <a:ext cx="7132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6C0"/>
                </a:solidFill>
                <a:latin typeface="Arial"/>
              </a:rPr>
              <a:t>Pick a market category. Build a baseline statistical model and backtest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59936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59936"/>
            <a:ext cx="164592" cy="96012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261104"/>
            <a:ext cx="566928" cy="566928"/>
          </a:xfrm>
          <a:prstGeom prst="roundRect">
            <a:avLst>
              <a:gd name="adj" fmla="val 6000"/>
            </a:avLst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15968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B0F1A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0624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F5FB"/>
                </a:solidFill>
                <a:latin typeface="Arial"/>
              </a:rPr>
              <a:t>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206240"/>
            <a:ext cx="7132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6C0"/>
                </a:solidFill>
                <a:latin typeface="Arial"/>
              </a:rPr>
              <a:t>Wrap it in an agent (Wizard or your own) that trades the PredLab API on its 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75504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175504"/>
            <a:ext cx="164592" cy="960120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5376672"/>
            <a:ext cx="566928" cy="566928"/>
          </a:xfrm>
          <a:prstGeom prst="roundRect">
            <a:avLst>
              <a:gd name="adj" fmla="val 6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31536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B0F1A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321808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F5FB"/>
                </a:solidFill>
                <a:latin typeface="Arial"/>
              </a:rPr>
              <a:t>Compete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321808"/>
            <a:ext cx="7132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AA6C0"/>
                </a:solidFill>
                <a:latin typeface="Arial"/>
              </a:rPr>
              <a:t>Climb the leaderboard. Iterate using the evaluate → analyze → improve loop.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0"/>
                </a:solidFill>
                <a:latin typeface="Arial"/>
              </a:rPr>
              <a:t>PredLab  ·  NCSSM Prediction Markets Club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AA6C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38160" y="0"/>
            <a:ext cx="38100" cy="68580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5D07F"/>
                </a:solidFill>
                <a:latin typeface="Arial"/>
              </a:rPr>
              <a:t>JOIN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132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2F5FB"/>
                </a:solidFill>
                <a:latin typeface="Arial"/>
              </a:rPr>
              <a:t>If you can predict it,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5D07F"/>
                </a:solidFill>
                <a:latin typeface="Arial"/>
              </a:rPr>
              <a:t>you understand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6949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AA6C0"/>
                </a:solidFill>
                <a:latin typeface="Arial"/>
              </a:rPr>
              <a:t>Come build forecasters, argue about probabilities, and find out whose model actually beats the crowd — with paper money and real feedback.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93208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5029200"/>
            <a:ext cx="6473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No experience needed.  </a:t>
            </a:r>
            <a:r>
              <a:rPr sz="1500" b="0" i="0">
                <a:solidFill>
                  <a:srgbClr val="9AA6C0"/>
                </a:solidFill>
                <a:latin typeface="Arial"/>
              </a:rPr>
              <a:t>Bring curiosity; we'll teach the stats and the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60136"/>
            <a:ext cx="109728" cy="109728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596128"/>
            <a:ext cx="6473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2F5FB"/>
                </a:solidFill>
                <a:latin typeface="Arial"/>
              </a:rPr>
              <a:t>Everything is open.  </a:t>
            </a:r>
            <a:r>
              <a:rPr sz="1500" b="0" i="0">
                <a:solidFill>
                  <a:srgbClr val="9AA6C0"/>
                </a:solidFill>
                <a:latin typeface="Arial"/>
              </a:rPr>
              <a:t>PredLab, Wizard, and the harness are all on GitHub.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7F"/>
                </a:solidFill>
                <a:latin typeface="Arial"/>
              </a:rPr>
              <a:t>WHAT TO BRING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2743200"/>
            <a:ext cx="128016" cy="128016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6974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2F5FB"/>
                </a:solidFill>
                <a:latin typeface="Arial"/>
              </a:rPr>
              <a:t>A laptop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3520440"/>
            <a:ext cx="128016" cy="128016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2F5FB"/>
                </a:solidFill>
                <a:latin typeface="Arial"/>
              </a:rPr>
              <a:t>A market you care about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4297680"/>
            <a:ext cx="128016" cy="128016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42519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2F5FB"/>
                </a:solidFill>
                <a:latin typeface="Arial"/>
              </a:rPr>
              <a:t>A guess you can defend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5257800"/>
            <a:ext cx="3200400" cy="38100"/>
          </a:xfrm>
          <a:prstGeom prst="rect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54406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2F5FB"/>
                </a:solidFill>
                <a:latin typeface="Arial"/>
              </a:rPr>
              <a:t>NCSSM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C0"/>
                </a:solidFill>
                <a:latin typeface="Arial"/>
              </a:rPr>
              <a:t>Prediction Markets Club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